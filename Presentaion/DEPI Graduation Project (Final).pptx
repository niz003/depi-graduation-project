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58CB94-06E6-41C9-9EB2-5E25A561BEC0}">
  <a:tblStyle styleId="{AB58CB94-06E6-41C9-9EB2-5E25A561BE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22" Type="http://schemas.openxmlformats.org/officeDocument/2006/relationships/font" Target="fonts/OpenSans-bold.fntdata"/><Relationship Id="rId10" Type="http://schemas.openxmlformats.org/officeDocument/2006/relationships/slide" Target="slides/slide4.xml"/><Relationship Id="rId21" Type="http://schemas.openxmlformats.org/officeDocument/2006/relationships/font" Target="fonts/OpenSans-regular.fntdata"/><Relationship Id="rId13" Type="http://schemas.openxmlformats.org/officeDocument/2006/relationships/slide" Target="slides/slide7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10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8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9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9275" y="1225004"/>
            <a:ext cx="8553450" cy="448404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08550" y="6477000"/>
            <a:ext cx="408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05513" y="2198191"/>
            <a:ext cx="778097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Real-Time Object Detection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90775" y="3093541"/>
            <a:ext cx="74104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FOR AUTONOMOUS VEHICLES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390700" y="4931844"/>
            <a:ext cx="741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Presenter: Nizar Hussien (Team Lead)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414100" y="5501149"/>
            <a:ext cx="136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December 2025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596000" y="4175363"/>
            <a:ext cx="30000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6EA8"/>
                </a:solidFill>
                <a:highlight>
                  <a:srgbClr val="F8FAFC"/>
                </a:highlight>
                <a:latin typeface="Open Sans"/>
                <a:ea typeface="Open Sans"/>
                <a:cs typeface="Open Sans"/>
                <a:sym typeface="Open Sans"/>
              </a:rPr>
              <a:t>DEPI Graduation Project</a:t>
            </a:r>
            <a:endParaRPr b="1" sz="1650">
              <a:solidFill>
                <a:srgbClr val="336EA8"/>
              </a:solidFill>
              <a:highlight>
                <a:srgbClr val="F8FAFC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2500" y="6316929"/>
            <a:ext cx="503258" cy="4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5743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5743"/>
            <a:ext cx="3492549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5743"/>
            <a:ext cx="3492549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446625" y="835277"/>
            <a:ext cx="3414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Project Concept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4274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484275" y="6468650"/>
            <a:ext cx="509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2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446625" y="1427475"/>
            <a:ext cx="820200" cy="19200"/>
          </a:xfrm>
          <a:prstGeom prst="roundRect">
            <a:avLst>
              <a:gd fmla="val 0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94225" y="341396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6100" y="3890225"/>
            <a:ext cx="3283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Autonomous systems lack reliable environmental perception in adverse conditions (low light, fog), creating safety risks.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572524" y="341396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444113" y="3890225"/>
            <a:ext cx="3342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 real-time YOLO detection model optimized for edge </a:t>
            </a:r>
            <a:r>
              <a:rPr lang="en-US" sz="142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deployment,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 identify pedestrians &amp; vehicles with low latency.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50824" y="3413968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Unique Value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167075" y="4010375"/>
            <a:ext cx="3414600" cy="16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High-speed detection optimized for real-time driving environments </a:t>
            </a:r>
            <a:r>
              <a:rPr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Engineered for &lt; 200ms latency,</a:t>
            </a:r>
            <a:endParaRPr i="0" sz="1500" u="none" cap="none" strike="noStrike">
              <a:solidFill>
                <a:srgbClr val="3341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5F5F5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77579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3125" y="277579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77579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904609" y="6285713"/>
            <a:ext cx="584920" cy="5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343025" y="875456"/>
            <a:ext cx="116016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Model Architecture &amp; Data Flow</a:t>
            </a:r>
            <a:endParaRPr b="1" sz="3000">
              <a:solidFill>
                <a:srgbClr val="336EA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336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142741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232675" y="6468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3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1343025" y="1427398"/>
            <a:ext cx="762000" cy="19200"/>
          </a:xfrm>
          <a:prstGeom prst="roundRect">
            <a:avLst>
              <a:gd fmla="val 16667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5218955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5"/>
          <p:cNvPicPr preferRelativeResize="0"/>
          <p:nvPr/>
        </p:nvPicPr>
        <p:blipFill rotWithShape="1">
          <a:blip r:embed="rId4">
            <a:alphaModFix/>
          </a:blip>
          <a:srcRect b="1999" l="0" r="0" t="-2000"/>
          <a:stretch/>
        </p:blipFill>
        <p:spPr>
          <a:xfrm>
            <a:off x="7086175" y="1647137"/>
            <a:ext cx="4165400" cy="408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204250" y="3211975"/>
            <a:ext cx="65550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Open Sans"/>
              <a:buNone/>
            </a:pPr>
            <a:r>
              <a:rPr b="1"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Input:</a:t>
            </a:r>
            <a:r>
              <a:rPr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Live Video Feed from vehicle cameras.</a:t>
            </a:r>
            <a:endParaRPr sz="1450">
              <a:solidFill>
                <a:srgbClr val="475569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Open Sans"/>
              <a:buNone/>
            </a:pPr>
            <a:r>
              <a:rPr b="1"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Preprocessing:</a:t>
            </a:r>
            <a:r>
              <a:rPr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Frame normalization and resizing (640x640).</a:t>
            </a:r>
            <a:endParaRPr sz="1450">
              <a:solidFill>
                <a:srgbClr val="475569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Open Sans"/>
              <a:buNone/>
            </a:pPr>
            <a:r>
              <a:rPr b="1"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Detection:</a:t>
            </a:r>
            <a:r>
              <a:rPr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YOLOv8 model runs inference on the frame.</a:t>
            </a:r>
            <a:endParaRPr sz="1450">
              <a:solidFill>
                <a:srgbClr val="475569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Open Sans"/>
              <a:buNone/>
            </a:pPr>
            <a:r>
              <a:rPr b="1"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Output:</a:t>
            </a:r>
            <a:r>
              <a:rPr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Structured data (Bounding Boxes and Class Labels).</a:t>
            </a:r>
            <a:endParaRPr sz="1450">
              <a:solidFill>
                <a:srgbClr val="475569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Open Sans"/>
              <a:buNone/>
            </a:pPr>
            <a:r>
              <a:rPr b="1"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Performance:</a:t>
            </a:r>
            <a:r>
              <a:rPr lang="en-US" sz="1450">
                <a:solidFill>
                  <a:srgbClr val="47556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Achieving fast inference for real-time operation.</a:t>
            </a:r>
            <a:endParaRPr sz="1450">
              <a:solidFill>
                <a:srgbClr val="475569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350" y="334053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350" y="366536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350" y="399018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350" y="431501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350" y="4639837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04350" y="2467100"/>
            <a:ext cx="436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b="1" lang="en-US" sz="1950">
                <a:solidFill>
                  <a:srgbClr val="336EA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Inference Pipeline (Core Focus)</a:t>
            </a:r>
            <a:endParaRPr b="1" sz="1950">
              <a:solidFill>
                <a:srgbClr val="336EA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11275" y="6297100"/>
            <a:ext cx="5905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146250" y="1011947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Target Users &amp; Features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584376"/>
            <a:ext cx="11049000" cy="25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4419475" y="6447100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4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300" y="2554494"/>
            <a:ext cx="5286375" cy="294798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1146250" y="1587676"/>
            <a:ext cx="682500" cy="18900"/>
          </a:xfrm>
          <a:prstGeom prst="roundRect">
            <a:avLst>
              <a:gd fmla="val 16667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146238" y="2840828"/>
            <a:ext cx="493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Primary User</a:t>
            </a:r>
            <a:endParaRPr sz="1950"/>
          </a:p>
        </p:txBody>
      </p:sp>
      <p:sp>
        <p:nvSpPr>
          <p:cNvPr id="145" name="Google Shape;145;p16"/>
          <p:cNvSpPr txBox="1"/>
          <p:nvPr/>
        </p:nvSpPr>
        <p:spPr>
          <a:xfrm>
            <a:off x="866775" y="3507803"/>
            <a:ext cx="4695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Autonomous Vehicle System: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Requires instantaneous, machine-readable perception data to make life-critical decisions without human intervention.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840826"/>
            <a:ext cx="368975" cy="3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97931"/>
            <a:ext cx="5286375" cy="294798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715125" y="2840831"/>
            <a:ext cx="479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AB7D"/>
                </a:solidFill>
                <a:latin typeface="Montserrat"/>
                <a:ea typeface="Montserrat"/>
                <a:cs typeface="Montserrat"/>
                <a:sym typeface="Montserrat"/>
              </a:rPr>
              <a:t>Key Features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000875" y="3288506"/>
            <a:ext cx="4276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Low Latency: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Optimized to respond in &lt; 200ms.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000875" y="3674268"/>
            <a:ext cx="4276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10-Class ID: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Pedestrians, Cars, Traffic Lights, etc.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000875" y="4060031"/>
            <a:ext cx="42768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High mAP:</a:t>
            </a:r>
            <a:r>
              <a:rPr lang="en-US" sz="14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Maximizing Mean Average Precision (&gt;90%).</a:t>
            </a:r>
            <a:endParaRPr sz="14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425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000875" y="4717250"/>
            <a:ext cx="5614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901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475569"/>
                </a:solidFill>
                <a:highlight>
                  <a:srgbClr val="F8FAFC"/>
                </a:highlight>
                <a:latin typeface="Open Sans"/>
                <a:ea typeface="Open Sans"/>
                <a:cs typeface="Open Sans"/>
                <a:sym typeface="Open Sans"/>
              </a:rPr>
              <a:t>Robustness:</a:t>
            </a:r>
            <a:r>
              <a:rPr lang="en-US" sz="1450">
                <a:solidFill>
                  <a:srgbClr val="475569"/>
                </a:solidFill>
                <a:highlight>
                  <a:srgbClr val="F8FAFC"/>
                </a:highlight>
                <a:latin typeface="Open Sans"/>
                <a:ea typeface="Open Sans"/>
                <a:cs typeface="Open Sans"/>
                <a:sym typeface="Open Sans"/>
              </a:rPr>
              <a:t> High accuracy in diverse conditions.</a:t>
            </a:r>
            <a:endParaRPr sz="1450">
              <a:solidFill>
                <a:srgbClr val="475569"/>
              </a:solidFill>
              <a:highlight>
                <a:srgbClr val="F8FAFC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425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317081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702843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088606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745831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96225" y="6333975"/>
            <a:ext cx="6096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422050" y="928931"/>
            <a:ext cx="116016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Data Strategy &amp; Processing</a:t>
            </a:r>
            <a:endParaRPr b="1" sz="3000">
              <a:solidFill>
                <a:srgbClr val="336EA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336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14274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4341400" y="6476500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5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422050" y="1427398"/>
            <a:ext cx="762000" cy="19200"/>
          </a:xfrm>
          <a:prstGeom prst="roundRect">
            <a:avLst>
              <a:gd fmla="val 16667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2029318"/>
            <a:ext cx="555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AB7D"/>
                </a:solidFill>
                <a:latin typeface="Montserrat"/>
                <a:ea typeface="Montserrat"/>
                <a:cs typeface="Montserrat"/>
                <a:sym typeface="Montserrat"/>
              </a:rPr>
              <a:t>Dataset: COCO-2017 Subset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10700" y="2707250"/>
            <a:ext cx="4419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We filtered the massive COCO dataset to focus on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10 driving-critical classes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3540918"/>
            <a:ext cx="555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AB7D"/>
                </a:solidFill>
                <a:latin typeface="Montserrat"/>
                <a:ea typeface="Montserrat"/>
                <a:cs typeface="Montserrat"/>
                <a:sym typeface="Montserrat"/>
              </a:rPr>
              <a:t>Pipeline Implementation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57250" y="3988593"/>
            <a:ext cx="5000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Filtering: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Python script extracts only relevant images.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57250" y="4374356"/>
            <a:ext cx="5000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Normalization: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Converts COCO [x,y,w,h] to YOLO format.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57250" y="4769643"/>
            <a:ext cx="5000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Config: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Automatically generates data.yaml for training.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57250" y="5164931"/>
            <a:ext cx="5000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Augmentation: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Applied during training to simulate weather.</a:t>
            </a:r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2025" y="1815050"/>
            <a:ext cx="4246750" cy="38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05375" y="6300175"/>
            <a:ext cx="533400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7900" y="2127825"/>
            <a:ext cx="3492550" cy="334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0750" y="2111749"/>
            <a:ext cx="3492550" cy="334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1510950" y="89871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Technology Stack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14274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4375450" y="6519450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6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1510950" y="1427323"/>
            <a:ext cx="762000" cy="19200"/>
          </a:xfrm>
          <a:prstGeom prst="roundRect">
            <a:avLst>
              <a:gd fmla="val 16667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2120538" y="3203253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Core &amp; ML</a:t>
            </a:r>
            <a:endParaRPr sz="1800"/>
          </a:p>
        </p:txBody>
      </p:sp>
      <p:sp>
        <p:nvSpPr>
          <p:cNvPr id="188" name="Google Shape;188;p18"/>
          <p:cNvSpPr txBox="1"/>
          <p:nvPr/>
        </p:nvSpPr>
        <p:spPr>
          <a:xfrm>
            <a:off x="7103574" y="3203253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Data &amp; </a:t>
            </a:r>
            <a:r>
              <a:rPr b="1" lang="en-US" sz="1800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sz="1800"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77412" y="2527878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60362" y="256507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2601225" y="3874725"/>
            <a:ext cx="2085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  <a:r>
              <a:rPr b="0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b="0" i="0" lang="en-US" sz="1275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Main Language</a:t>
            </a:r>
            <a:r>
              <a:rPr b="0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2240325" y="4417225"/>
            <a:ext cx="2807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YOLOv8</a:t>
            </a:r>
            <a:r>
              <a:rPr b="0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275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(Ultralytics Framework)</a:t>
            </a:r>
            <a:endParaRPr>
              <a:solidFill>
                <a:srgbClr val="0FAB7D"/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2718288" y="4901850"/>
            <a:ext cx="1851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PyTorch</a:t>
            </a:r>
            <a:r>
              <a:rPr b="0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275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(Engine)</a:t>
            </a:r>
            <a:endParaRPr>
              <a:solidFill>
                <a:srgbClr val="0FAB7D"/>
              </a:solidFill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176088" y="3866913"/>
            <a:ext cx="2901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Pandas &amp; NumPy</a:t>
            </a:r>
            <a:r>
              <a:rPr b="0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275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(Data Handling)</a:t>
            </a:r>
            <a:endParaRPr>
              <a:solidFill>
                <a:srgbClr val="0FAB7D"/>
              </a:solidFill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7314984" y="4425438"/>
            <a:ext cx="2624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OpenCV</a:t>
            </a:r>
            <a:r>
              <a:rPr b="0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275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(Image Processing)</a:t>
            </a:r>
            <a:endParaRPr>
              <a:solidFill>
                <a:srgbClr val="0FAB7D"/>
              </a:solidFill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7525675" y="4901850"/>
            <a:ext cx="2202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Git</a:t>
            </a:r>
            <a:r>
              <a:rPr b="0" i="0" lang="en-US" sz="1275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 (Version Control)</a:t>
            </a:r>
            <a:endParaRPr>
              <a:solidFill>
                <a:srgbClr val="0FAB7D"/>
              </a:solidFill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98" name="Google Shape;19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87063" y="6276963"/>
            <a:ext cx="73342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1263125" y="1072862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Performance KPIs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714375" y="1557649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4171950" y="6611525"/>
            <a:ext cx="441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7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1263125" y="1557661"/>
            <a:ext cx="762000" cy="19200"/>
          </a:xfrm>
          <a:prstGeom prst="roundRect">
            <a:avLst>
              <a:gd fmla="val 16667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2069999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6EA8"/>
                </a:solidFill>
                <a:latin typeface="Open Sans"/>
                <a:ea typeface="Open Sans"/>
                <a:cs typeface="Open Sans"/>
                <a:sym typeface="Open Sans"/>
              </a:rPr>
              <a:t>The model is optimized to meet strict real-time safety metrics.</a:t>
            </a:r>
            <a:endParaRPr/>
          </a:p>
        </p:txBody>
      </p:sp>
      <p:pic>
        <p:nvPicPr>
          <p:cNvPr descr="image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3643937"/>
            <a:ext cx="523875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3600450" y="2817238"/>
            <a:ext cx="4991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Metrics achieved on the validation dataset during training.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3519462" y="5553425"/>
            <a:ext cx="51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Training parameters: Image size **640x640**, Batch size 16.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3643937"/>
            <a:ext cx="523875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952500" y="3882062"/>
            <a:ext cx="4762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&lt; 200ms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2643187" y="4644062"/>
            <a:ext cx="138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Target Latency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477000" y="3882062"/>
            <a:ext cx="4762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&gt; 90%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148637" y="4644062"/>
            <a:ext cx="141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mAP (Accuracy)</a:t>
            </a:r>
            <a:endParaRPr/>
          </a:p>
        </p:txBody>
      </p:sp>
      <p:pic>
        <p:nvPicPr>
          <p:cNvPr id="217" name="Google Shape;21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68025" y="6334113"/>
            <a:ext cx="6096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5" y="51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/>
          <p:nvPr/>
        </p:nvSpPr>
        <p:spPr>
          <a:xfrm>
            <a:off x="571500" y="3480643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695" y="324251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2710" y="324251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726" y="324251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2741" y="324251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87756" y="324251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987400" y="119453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Milestones &amp; Deliverables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71350" y="1679335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250525" y="6490550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8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917225" y="1679323"/>
            <a:ext cx="762000" cy="19200"/>
          </a:xfrm>
          <a:prstGeom prst="roundRect">
            <a:avLst>
              <a:gd fmla="val 16667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4852243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Final deliverables include the working  source code, and comprehensive technical documentation.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71500" y="3861643"/>
            <a:ext cx="19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05/1</a:t>
            </a:r>
            <a:r>
              <a:rPr lang="en-US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Collection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836515" y="3861643"/>
            <a:ext cx="19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15/1</a:t>
            </a:r>
            <a:r>
              <a:rPr lang="en-US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Training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5101530" y="3861643"/>
            <a:ext cx="19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22/1</a:t>
            </a:r>
            <a:r>
              <a:rPr lang="en-US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Real-Time Testing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366545" y="3861643"/>
            <a:ext cx="19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28/1</a:t>
            </a:r>
            <a:r>
              <a:rPr lang="en-US" sz="1200">
                <a:latin typeface="Open Sans"/>
                <a:ea typeface="Open Sans"/>
                <a:cs typeface="Open Sans"/>
                <a:sym typeface="Open Sans"/>
              </a:rPr>
              <a:t>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MLOps Monitoring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9631560" y="3861643"/>
            <a:ext cx="19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30/</a:t>
            </a:r>
            <a:r>
              <a:rPr lang="en-US" sz="1200">
                <a:latin typeface="Open Sans"/>
                <a:ea typeface="Open Sans"/>
                <a:cs typeface="Open Sans"/>
                <a:sym typeface="Open Sans"/>
              </a:rPr>
              <a:t>11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 Delivery</a:t>
            </a:r>
            <a:endParaRPr/>
          </a:p>
        </p:txBody>
      </p:sp>
      <p:pic>
        <p:nvPicPr>
          <p:cNvPr id="239" name="Google Shape;23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71688" y="6323750"/>
            <a:ext cx="5429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1393025" y="86068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Project Team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71500" y="14274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375550" y="6438150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9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1333025" y="1427323"/>
            <a:ext cx="762000" cy="19200"/>
          </a:xfrm>
          <a:prstGeom prst="roundRect">
            <a:avLst>
              <a:gd fmla="val 16667" name="adj"/>
            </a:avLst>
          </a:prstGeom>
          <a:solidFill>
            <a:srgbClr val="D7B1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21"/>
          <p:cNvGraphicFramePr/>
          <p:nvPr/>
        </p:nvGraphicFramePr>
        <p:xfrm>
          <a:off x="571500" y="18944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{AB58CB94-06E6-41C9-9EB2-5E25A561BEC0}</a:tableStyleId>
              </a:tblPr>
              <a:tblGrid>
                <a:gridCol w="3408600"/>
                <a:gridCol w="2674000"/>
                <a:gridCol w="4966400"/>
              </a:tblGrid>
              <a:tr h="58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 Responsibility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EA8"/>
                    </a:solidFill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Nizar Hussien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AB7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Team Lead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 Management &amp; </a:t>
                      </a:r>
                      <a:r>
                        <a:rPr b="1" lang="en-US" sz="15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Acquisition &amp; Presentaion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AbdElRahman Ahmed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Scientist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425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Filtering &amp; Preprocessing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Ahmed Ashraf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 Engineer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 Architecture &amp; 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Elsayed Aboulila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 Engineer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450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System Integration &amp; Documentation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Mohamed Ashraf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MLOps Engineer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425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 Optimization &amp;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1"/>
          <p:cNvSpPr/>
          <p:nvPr/>
        </p:nvSpPr>
        <p:spPr>
          <a:xfrm>
            <a:off x="571500" y="3437780"/>
            <a:ext cx="3408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980110" y="3437780"/>
            <a:ext cx="2673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654105" y="3437780"/>
            <a:ext cx="496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71500" y="4037855"/>
            <a:ext cx="3408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3980110" y="4037855"/>
            <a:ext cx="2673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654105" y="4037855"/>
            <a:ext cx="496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571500" y="4637930"/>
            <a:ext cx="3408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3980110" y="4637930"/>
            <a:ext cx="2673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654105" y="4637930"/>
            <a:ext cx="496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71500" y="5238005"/>
            <a:ext cx="3408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980110" y="5238005"/>
            <a:ext cx="2673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654105" y="5238005"/>
            <a:ext cx="496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71500" y="5838080"/>
            <a:ext cx="3408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980110" y="5838080"/>
            <a:ext cx="26739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654105" y="5838080"/>
            <a:ext cx="496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11250" y="6247525"/>
            <a:ext cx="59055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72842"/>
            <a:ext cx="110490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4304125" y="65043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Graduation Project | Real-Time Object Detection Slide 10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295275" y="162207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36EA8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71500" y="293315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AB7D"/>
                </a:solidFill>
                <a:latin typeface="Open Sans"/>
                <a:ea typeface="Open Sans"/>
                <a:cs typeface="Open Sans"/>
                <a:sym typeface="Open Sans"/>
              </a:rPr>
              <a:t>Questions &amp; Discussion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866775" y="4658617"/>
            <a:ext cx="1045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nizar.ho003@gmail.com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866775" y="5153917"/>
            <a:ext cx="1045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lang="en-US" sz="15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20- 1115552118</a:t>
            </a:r>
            <a:endParaRPr/>
          </a:p>
        </p:txBody>
      </p:sp>
      <p:pic>
        <p:nvPicPr>
          <p:cNvPr descr="image.png" id="277" name="Google Shape;27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9162" y="47157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79375" y="51741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73875" y="6291988"/>
            <a:ext cx="6286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